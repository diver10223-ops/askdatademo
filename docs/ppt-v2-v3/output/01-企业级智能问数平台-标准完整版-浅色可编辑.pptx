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来源：01-产品V2.0业务方案与V3.0规划-标准完整版.md，第1页。所有文字与形状可在PowerPoint中编辑。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来源：01-产品V2.0业务方案与V3.0规划-标准完整版.md，第2页。所有文字与形状可在PowerPoint中编辑。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来源：01-产品V2.0业务方案与V3.0规划-标准完整版.md，第3页。所有文字与形状可在PowerPoint中编辑。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来源：01-产品V2.0业务方案与V3.0规划-标准完整版.md，第4页。所有文字与形状可在PowerPoint中编辑。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来源：01-产品V2.0业务方案与V3.0规划-标准完整版.md，第5页。所有文字与形状可在PowerPoint中编辑。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来源：01-产品V2.0业务方案与V3.0规划-标准完整版.md，第6页。所有文字与形状可在PowerPoint中编辑。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来源：01-产品V2.0业务方案与V3.0规划-标准完整版.md，第7页。所有文字与形状可在PowerPoint中编辑。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来源：01-产品V2.0业务方案与V3.0规划-标准完整版.md，第8页。所有文字与形状可在PowerPoint中编辑。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来源：01-产品V2.0业务方案与V3.0规划-标准完整版.md，第9页。所有文字与形状可在PowerPoint中编辑。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来源：01-产品V2.0业务方案与V3.0规划-标准完整版.md，第10页。所有文字与形状可在PowerPoint中编辑。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来源：01-产品V2.0业务方案与V3.0规划-标准完整版.md，第11页。所有文字与形状可在PowerPoint中编辑。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来源：01-产品V2.0业务方案与V3.0规划-标准完整版.md，第12页。所有文字与形状可在PowerPoint中编辑。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来源：01-产品V2.0业务方案与V3.0规划-标准完整版.md，第13页。所有文字与形状可在PowerPoint中编辑。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来源：01-产品V2.0业务方案与V3.0规划-标准完整版.md，第14页。所有文字与形状可在PowerPoint中编辑。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来源：01-产品V2.0业务方案与V3.0规划-标准完整版.md，第15页。所有文字与形状可在PowerPoint中编辑。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来源：01-产品V2.0业务方案与V3.0规划-标准完整版.md，第16页。所有文字与形状可在PowerPoint中编辑。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来源：01-产品V2.0业务方案与V3.0规划-标准完整版.md，第17页。所有文字与形状可在PowerPoint中编辑。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来源：01-产品V2.0业务方案与V3.0规划-标准完整版.md，第18页。所有文字与形状可在PowerPoint中编辑。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来源：01-产品V2.0业务方案与V3.0规划-标准完整版.md，第19页。所有文字与形状可在PowerPoint中编辑。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来源：01-产品V2.0业务方案与V3.0规划-标准完整版.md，第20页。所有文字与形状可在PowerPoint中编辑。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来源：01-产品V2.0业务方案与V3.0规划-标准完整版.md，第21页。所有文字与形状可在PowerPoint中编辑。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来源：01-产品V2.0业务方案与V3.0规划-标准完整版.md，第22页。所有文字与形状可在PowerPoint中编辑。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来源：01-产品V2.0业务方案与V3.0规划-标准完整版.md，第23页。所有文字与形状可在PowerPoint中编辑。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来源：01-产品V2.0业务方案与V3.0规划-标准完整版.md，第24页。所有文字与形状可在PowerPoint中编辑。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来源：01-产品V2.0业务方案与V3.0规划-标准完整版.md，第25页。所有文字与形状可在PowerPoint中编辑。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来源：01-产品V2.0业务方案与V3.0规划-标准完整版.md，第26页。所有文字与形状可在PowerPoint中编辑。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来源：01-产品V2.0业务方案与V3.0规划-标准完整版.md，第27页。所有文字与形状可在PowerPoint中编辑。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来源：01-产品V2.0业务方案与V3.0规划-标准完整版.md，第28页。所有文字与形状可在PowerPoint中编辑。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来源：01-产品V2.0业务方案与V3.0规划-标准完整版.md，第29页。所有文字与形状可在PowerPoint中编辑。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来源：01-产品V2.0业务方案与V3.0规划-标准完整版.md，第30页。所有文字与形状可在PowerPoint中编辑。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来源：01-产品V2.0业务方案与V3.0规划-标准完整版.md，第31页。所有文字与形状可在PowerPoint中编辑。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来源：01-产品V2.0业务方案与V3.0规划-标准完整版.md，第32页。所有文字与形状可在PowerPoint中编辑。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sv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06640" y="0"/>
            <a:ext cx="4791456" cy="6858000"/>
          </a:xfrm>
          <a:prstGeom prst="rect">
            <a:avLst/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09560" y="1005840"/>
            <a:ext cx="164592" cy="164592"/>
          </a:xfrm>
          <a:prstGeom prst="ellipse">
            <a:avLst/>
          </a:prstGeom>
          <a:solidFill>
            <a:srgbClr val="17745F"/>
          </a:solidFill>
          <a:ln w="12700">
            <a:solidFill>
              <a:srgbClr val="1774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65008" y="1170432"/>
            <a:ext cx="502920" cy="502920"/>
          </a:xfrm>
          <a:prstGeom prst="line">
            <a:avLst/>
          </a:prstGeom>
          <a:noFill/>
          <a:ln w="25400">
            <a:solidFill>
              <a:srgbClr val="5C91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39912" y="1664208"/>
            <a:ext cx="164592" cy="164592"/>
          </a:xfrm>
          <a:prstGeom prst="ellipse">
            <a:avLst/>
          </a:prstGeom>
          <a:solidFill>
            <a:srgbClr val="17745F"/>
          </a:solidFill>
          <a:ln w="12700">
            <a:solidFill>
              <a:srgbClr val="1774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95360" y="1828800"/>
            <a:ext cx="502920" cy="502920"/>
          </a:xfrm>
          <a:prstGeom prst="line">
            <a:avLst/>
          </a:prstGeom>
          <a:noFill/>
          <a:ln w="25400">
            <a:solidFill>
              <a:srgbClr val="5C91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70264" y="2322576"/>
            <a:ext cx="164592" cy="164592"/>
          </a:xfrm>
          <a:prstGeom prst="ellipse">
            <a:avLst/>
          </a:prstGeom>
          <a:solidFill>
            <a:srgbClr val="F47C3C"/>
          </a:solidFill>
          <a:ln w="12700">
            <a:solidFill>
              <a:srgbClr val="F47C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25712" y="2487168"/>
            <a:ext cx="502920" cy="502920"/>
          </a:xfrm>
          <a:prstGeom prst="line">
            <a:avLst/>
          </a:prstGeom>
          <a:noFill/>
          <a:ln w="25400">
            <a:solidFill>
              <a:srgbClr val="5C91C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500616" y="2980944"/>
            <a:ext cx="164592" cy="164592"/>
          </a:xfrm>
          <a:prstGeom prst="ellipse">
            <a:avLst/>
          </a:prstGeom>
          <a:solidFill>
            <a:srgbClr val="17745F"/>
          </a:solidFill>
          <a:ln w="12700">
            <a:solidFill>
              <a:srgbClr val="1774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56064" y="3145536"/>
            <a:ext cx="502920" cy="502920"/>
          </a:xfrm>
          <a:prstGeom prst="line">
            <a:avLst/>
          </a:prstGeom>
          <a:noFill/>
          <a:ln w="25400">
            <a:solidFill>
              <a:srgbClr val="5C91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30968" y="3639312"/>
            <a:ext cx="164592" cy="164592"/>
          </a:xfrm>
          <a:prstGeom prst="ellipse">
            <a:avLst/>
          </a:prstGeom>
          <a:solidFill>
            <a:srgbClr val="17745F"/>
          </a:solidFill>
          <a:ln w="12700">
            <a:solidFill>
              <a:srgbClr val="1774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186416" y="3803904"/>
            <a:ext cx="502920" cy="502920"/>
          </a:xfrm>
          <a:prstGeom prst="line">
            <a:avLst/>
          </a:prstGeom>
          <a:noFill/>
          <a:ln w="25400">
            <a:solidFill>
              <a:srgbClr val="5C91C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61320" y="4297680"/>
            <a:ext cx="164592" cy="164592"/>
          </a:xfrm>
          <a:prstGeom prst="ellipse">
            <a:avLst/>
          </a:prstGeom>
          <a:solidFill>
            <a:srgbClr val="17745F"/>
          </a:solidFill>
          <a:ln w="12700">
            <a:solidFill>
              <a:srgbClr val="1774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585216"/>
            <a:ext cx="51206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ASK DATA / BUSINESS SOLUTION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8368" y="1371600"/>
            <a:ext cx="6217920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企业级智能问数平台业务解决方案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85800" y="2880360"/>
            <a:ext cx="598932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5C91C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产品V2.0业务能力介绍与V3.0演进规划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85800" y="3703320"/>
            <a:ext cx="589788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66708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让业务人员用自然语言安全、准确地获取经营数据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85800" y="4800600"/>
            <a:ext cx="1005840" cy="0"/>
          </a:xfrm>
          <a:prstGeom prst="line">
            <a:avLst/>
          </a:prstGeom>
          <a:noFill/>
          <a:ln w="50800">
            <a:solidFill>
              <a:srgbClr val="F47C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5010912"/>
            <a:ext cx="50292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汇报单位｜汇报人｜2026年8月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973568" y="6080760"/>
            <a:ext cx="3401568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产品 V2.0 · V3.0 演进规划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438912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24128" y="201168"/>
            <a:ext cx="891540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目录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168128" y="246888"/>
            <a:ext cx="144475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业务方案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30352" y="722376"/>
            <a:ext cx="11109960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2 / 32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8368" y="1078992"/>
            <a:ext cx="5340096" cy="1463040"/>
          </a:xfrm>
          <a:prstGeom prst="roundRect">
            <a:avLst>
              <a:gd name="adj" fmla="val 5000"/>
            </a:avLst>
          </a:prstGeom>
          <a:solidFill>
            <a:srgbClr val="F2F8F6"/>
          </a:solidFill>
          <a:ln w="12700">
            <a:solidFill>
              <a:srgbClr val="D6E3D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252728"/>
            <a:ext cx="118872" cy="118872"/>
          </a:xfrm>
          <a:prstGeom prst="ellipse">
            <a:avLst/>
          </a:prstGeom>
          <a:solidFill>
            <a:srgbClr val="17745F"/>
          </a:solidFill>
          <a:ln w="12700">
            <a:solidFill>
              <a:srgbClr val="1774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197864"/>
            <a:ext cx="4837176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建设背景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1591056"/>
            <a:ext cx="4974336" cy="8412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6708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整体方案｜七层机制｜用户端｜管理端｜方案价值｜实施交付｜V3.0演进。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438912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24128" y="201168"/>
            <a:ext cx="891540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建设背景：数据使用的六类矛盾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168128" y="246888"/>
            <a:ext cx="144475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业务方案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30352" y="722376"/>
            <a:ext cx="11109960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3 / 32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8368" y="1078992"/>
            <a:ext cx="3493008" cy="1463040"/>
          </a:xfrm>
          <a:prstGeom prst="roundRect">
            <a:avLst>
              <a:gd name="adj" fmla="val 5000"/>
            </a:avLst>
          </a:prstGeom>
          <a:solidFill>
            <a:srgbClr val="F2F8F6"/>
          </a:solidFill>
          <a:ln w="12700">
            <a:solidFill>
              <a:srgbClr val="D6E3D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252728"/>
            <a:ext cx="118872" cy="118872"/>
          </a:xfrm>
          <a:prstGeom prst="ellipse">
            <a:avLst/>
          </a:prstGeom>
          <a:solidFill>
            <a:srgbClr val="17745F"/>
          </a:solidFill>
          <a:ln w="12700">
            <a:solidFill>
              <a:srgbClr val="1774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197864"/>
            <a:ext cx="2990088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业务需求多，与数据服务资源有限之间的矛盾。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52544" y="1078992"/>
            <a:ext cx="3493008" cy="1463040"/>
          </a:xfrm>
          <a:prstGeom prst="roundRect">
            <a:avLst>
              <a:gd name="adj" fmla="val 5000"/>
            </a:avLst>
          </a:prstGeom>
          <a:solidFill>
            <a:srgbClr val="EEF4FA"/>
          </a:solidFill>
          <a:ln w="12700">
            <a:solidFill>
              <a:srgbClr val="D6E3D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17136" y="1252728"/>
            <a:ext cx="118872" cy="118872"/>
          </a:xfrm>
          <a:prstGeom prst="ellipse">
            <a:avLst/>
          </a:prstGeom>
          <a:solidFill>
            <a:srgbClr val="5C91C8"/>
          </a:solidFill>
          <a:ln w="12700">
            <a:solidFill>
              <a:srgbClr val="5C91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0016" y="1197864"/>
            <a:ext cx="2990088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经营决策要求快，与传统取数排期长之间的矛盾。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46720" y="1078992"/>
            <a:ext cx="3493008" cy="1463040"/>
          </a:xfrm>
          <a:prstGeom prst="roundRect">
            <a:avLst>
              <a:gd name="adj" fmla="val 5000"/>
            </a:avLst>
          </a:prstGeom>
          <a:solidFill>
            <a:srgbClr val="F7F9FB"/>
          </a:solidFill>
          <a:ln w="12700">
            <a:solidFill>
              <a:srgbClr val="D6E3D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11312" y="1252728"/>
            <a:ext cx="118872" cy="118872"/>
          </a:xfrm>
          <a:prstGeom prst="ellipse">
            <a:avLst/>
          </a:prstGeom>
          <a:solidFill>
            <a:srgbClr val="17745F"/>
          </a:solidFill>
          <a:ln w="12700">
            <a:solidFill>
              <a:srgbClr val="1774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94192" y="1197864"/>
            <a:ext cx="2990088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自然语言灵活，与指标口径必须统一之间的矛盾。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58368" y="2743200"/>
            <a:ext cx="3493008" cy="1463040"/>
          </a:xfrm>
          <a:prstGeom prst="roundRect">
            <a:avLst>
              <a:gd name="adj" fmla="val 5000"/>
            </a:avLst>
          </a:prstGeom>
          <a:solidFill>
            <a:srgbClr val="FFF4EC"/>
          </a:solidFill>
          <a:ln w="12700">
            <a:solidFill>
              <a:srgbClr val="F8C8A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2916936"/>
            <a:ext cx="118872" cy="118872"/>
          </a:xfrm>
          <a:prstGeom prst="ellipse">
            <a:avLst/>
          </a:prstGeom>
          <a:solidFill>
            <a:srgbClr val="F47C3C"/>
          </a:solidFill>
          <a:ln w="12700">
            <a:solidFill>
              <a:srgbClr val="F47C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2862072"/>
            <a:ext cx="2990088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大模型能力强，与幻觉、越权、不可解释风险之间的矛盾。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352544" y="2743200"/>
            <a:ext cx="3493008" cy="1463040"/>
          </a:xfrm>
          <a:prstGeom prst="roundRect">
            <a:avLst>
              <a:gd name="adj" fmla="val 5000"/>
            </a:avLst>
          </a:prstGeom>
          <a:solidFill>
            <a:srgbClr val="F2F8F6"/>
          </a:solidFill>
          <a:ln w="12700">
            <a:solidFill>
              <a:srgbClr val="D6E3D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17136" y="2916936"/>
            <a:ext cx="118872" cy="118872"/>
          </a:xfrm>
          <a:prstGeom prst="ellipse">
            <a:avLst/>
          </a:prstGeom>
          <a:solidFill>
            <a:srgbClr val="17745F"/>
          </a:solidFill>
          <a:ln w="12700">
            <a:solidFill>
              <a:srgbClr val="1774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0016" y="2862072"/>
            <a:ext cx="2990088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数据入口分散，与统一经营分析入口之间的矛盾。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046720" y="2743200"/>
            <a:ext cx="3493008" cy="1463040"/>
          </a:xfrm>
          <a:prstGeom prst="roundRect">
            <a:avLst>
              <a:gd name="adj" fmla="val 5000"/>
            </a:avLst>
          </a:prstGeom>
          <a:solidFill>
            <a:srgbClr val="EEF4FA"/>
          </a:solidFill>
          <a:ln w="12700">
            <a:solidFill>
              <a:srgbClr val="D6E3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11312" y="2916936"/>
            <a:ext cx="118872" cy="118872"/>
          </a:xfrm>
          <a:prstGeom prst="ellipse">
            <a:avLst/>
          </a:prstGeom>
          <a:solidFill>
            <a:srgbClr val="5C91C8"/>
          </a:solidFill>
          <a:ln w="12700">
            <a:solidFill>
              <a:srgbClr val="5C91C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94192" y="2862072"/>
            <a:ext cx="2990088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使用便捷性，与安全、审计、运维要求之间的矛盾。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438912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7C3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24128" y="201168"/>
            <a:ext cx="891540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目标用户与核心诉求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168128" y="246888"/>
            <a:ext cx="144475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产品能力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30352" y="722376"/>
            <a:ext cx="11109960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4 / 32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051560"/>
          <a:ext cx="10881360" cy="5166360"/>
        </p:xfrm>
        <a:graphic>
          <a:graphicData uri="http://schemas.openxmlformats.org/drawingml/2006/table">
            <a:tbl>
              <a:tblPr/>
              <a:tblGrid>
                <a:gridCol w="5440680"/>
                <a:gridCol w="54406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角色</a:t>
                      </a:r>
                      <a:endParaRPr lang="en-US" sz="16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74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核心诉求</a:t>
                      </a:r>
                      <a:endParaRPr lang="en-US" sz="16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74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管理人员</a:t>
                      </a:r>
                      <a:endParaRPr lang="en-US" sz="16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快速掌握经营情况、趋势和异常</a:t>
                      </a:r>
                      <a:endParaRPr lang="en-US" sz="16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业务人员</a:t>
                      </a:r>
                      <a:endParaRPr lang="en-US" sz="16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自助查询指标、机构、时间与明细</a:t>
                      </a:r>
                      <a:endParaRPr lang="en-US" sz="16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数据分析人员</a:t>
                      </a:r>
                      <a:endParaRPr lang="en-US" sz="16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减少重复取数、统一指标口径</a:t>
                      </a:r>
                      <a:endParaRPr lang="en-US" sz="16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数据管理员</a:t>
                      </a:r>
                      <a:endParaRPr lang="en-US" sz="16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管理数据资产、指标和查询模板</a:t>
                      </a:r>
                      <a:endParaRPr lang="en-US" sz="16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系统管理员</a:t>
                      </a:r>
                      <a:endParaRPr lang="en-US" sz="16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管理权限、模型、数据源和运行配置</a:t>
                      </a:r>
                      <a:endParaRPr lang="en-US" sz="16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审计运维人员</a:t>
                      </a:r>
                      <a:endParaRPr lang="en-US" sz="16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追踪SQL、调用链、告警和操作审计</a:t>
                      </a:r>
                      <a:endParaRPr lang="en-US" sz="16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438912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24128" y="201168"/>
            <a:ext cx="891540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产品定位与建设目标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168128" y="246888"/>
            <a:ext cx="144475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业务方案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30352" y="722376"/>
            <a:ext cx="11109960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5 / 32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8368" y="987552"/>
            <a:ext cx="10881360" cy="749808"/>
          </a:xfrm>
          <a:prstGeom prst="roundRect">
            <a:avLst>
              <a:gd name="adj" fmla="val 6098"/>
            </a:avLst>
          </a:prstGeom>
          <a:solidFill>
            <a:srgbClr val="F2F8F6"/>
          </a:solidFill>
          <a:ln w="12700">
            <a:solidFill>
              <a:srgbClr val="D6E3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1133856"/>
            <a:ext cx="10332720" cy="4206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定位：面向企业经营管理和业务分析，通过自然语言连接用户、指标体系与受控数据源的智能数据服务平台。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58368" y="1956816"/>
            <a:ext cx="3493008" cy="1463040"/>
          </a:xfrm>
          <a:prstGeom prst="roundRect">
            <a:avLst>
              <a:gd name="adj" fmla="val 5000"/>
            </a:avLst>
          </a:prstGeom>
          <a:solidFill>
            <a:srgbClr val="F2F8F6"/>
          </a:solidFill>
          <a:ln w="12700">
            <a:solidFill>
              <a:srgbClr val="D6E3D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2130552"/>
            <a:ext cx="118872" cy="118872"/>
          </a:xfrm>
          <a:prstGeom prst="ellipse">
            <a:avLst/>
          </a:prstGeom>
          <a:solidFill>
            <a:srgbClr val="17745F"/>
          </a:solidFill>
          <a:ln w="12700">
            <a:solidFill>
              <a:srgbClr val="1774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2075688"/>
            <a:ext cx="2990088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降低取数门槛，缩短获得结果的时间。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352544" y="1956816"/>
            <a:ext cx="3493008" cy="1463040"/>
          </a:xfrm>
          <a:prstGeom prst="roundRect">
            <a:avLst>
              <a:gd name="adj" fmla="val 5000"/>
            </a:avLst>
          </a:prstGeom>
          <a:solidFill>
            <a:srgbClr val="EEF4FA"/>
          </a:solidFill>
          <a:ln w="12700">
            <a:solidFill>
              <a:srgbClr val="D6E3D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17136" y="2130552"/>
            <a:ext cx="118872" cy="118872"/>
          </a:xfrm>
          <a:prstGeom prst="ellipse">
            <a:avLst/>
          </a:prstGeom>
          <a:solidFill>
            <a:srgbClr val="5C91C8"/>
          </a:solidFill>
          <a:ln w="12700">
            <a:solidFill>
              <a:srgbClr val="5C91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0016" y="2075688"/>
            <a:ext cx="2990088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统一指标、维度和业务口径。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046720" y="1956816"/>
            <a:ext cx="3493008" cy="1463040"/>
          </a:xfrm>
          <a:prstGeom prst="roundRect">
            <a:avLst>
              <a:gd name="adj" fmla="val 5000"/>
            </a:avLst>
          </a:prstGeom>
          <a:solidFill>
            <a:srgbClr val="F7F9FB"/>
          </a:solidFill>
          <a:ln w="12700">
            <a:solidFill>
              <a:srgbClr val="D6E3D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11312" y="2130552"/>
            <a:ext cx="118872" cy="118872"/>
          </a:xfrm>
          <a:prstGeom prst="ellipse">
            <a:avLst/>
          </a:prstGeom>
          <a:solidFill>
            <a:srgbClr val="17745F"/>
          </a:solidFill>
          <a:ln w="12700">
            <a:solidFill>
              <a:srgbClr val="1774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94192" y="2075688"/>
            <a:ext cx="2990088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精确控制功能权限和数据范围。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58368" y="3621024"/>
            <a:ext cx="3493008" cy="1463040"/>
          </a:xfrm>
          <a:prstGeom prst="roundRect">
            <a:avLst>
              <a:gd name="adj" fmla="val 5000"/>
            </a:avLst>
          </a:prstGeom>
          <a:solidFill>
            <a:srgbClr val="FFF4EC"/>
          </a:solidFill>
          <a:ln w="12700">
            <a:solidFill>
              <a:srgbClr val="F8C8A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3794760"/>
            <a:ext cx="118872" cy="118872"/>
          </a:xfrm>
          <a:prstGeom prst="ellipse">
            <a:avLst/>
          </a:prstGeom>
          <a:solidFill>
            <a:srgbClr val="F47C3C"/>
          </a:solidFill>
          <a:ln w="12700">
            <a:solidFill>
              <a:srgbClr val="F47C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3739896"/>
            <a:ext cx="2990088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保证SQL安全及回答事实一致。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352544" y="3621024"/>
            <a:ext cx="3493008" cy="1463040"/>
          </a:xfrm>
          <a:prstGeom prst="roundRect">
            <a:avLst>
              <a:gd name="adj" fmla="val 5000"/>
            </a:avLst>
          </a:prstGeom>
          <a:solidFill>
            <a:srgbClr val="F2F8F6"/>
          </a:solidFill>
          <a:ln w="12700">
            <a:solidFill>
              <a:srgbClr val="D6E3D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17136" y="3794760"/>
            <a:ext cx="118872" cy="118872"/>
          </a:xfrm>
          <a:prstGeom prst="ellipse">
            <a:avLst/>
          </a:prstGeom>
          <a:solidFill>
            <a:srgbClr val="17745F"/>
          </a:solidFill>
          <a:ln w="12700">
            <a:solidFill>
              <a:srgbClr val="1774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0016" y="3739896"/>
            <a:ext cx="2990088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实现全过程追踪、审计和运维。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046720" y="3621024"/>
            <a:ext cx="3493008" cy="1463040"/>
          </a:xfrm>
          <a:prstGeom prst="roundRect">
            <a:avLst>
              <a:gd name="adj" fmla="val 5000"/>
            </a:avLst>
          </a:prstGeom>
          <a:solidFill>
            <a:srgbClr val="EEF4FA"/>
          </a:solidFill>
          <a:ln w="12700">
            <a:solidFill>
              <a:srgbClr val="D6E3D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11312" y="3794760"/>
            <a:ext cx="118872" cy="118872"/>
          </a:xfrm>
          <a:prstGeom prst="ellipse">
            <a:avLst/>
          </a:prstGeom>
          <a:solidFill>
            <a:srgbClr val="5C91C8"/>
          </a:solidFill>
          <a:ln w="12700">
            <a:solidFill>
              <a:srgbClr val="5C91C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94192" y="3739896"/>
            <a:ext cx="2990088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形成可配置、可扩展、可交付的产品底座。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438912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06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24128" y="201168"/>
            <a:ext cx="891540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版本建设路径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168128" y="246888"/>
            <a:ext cx="144475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业务方案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30352" y="722376"/>
            <a:ext cx="11109960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6 / 32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76072" y="987552"/>
            <a:ext cx="7872984" cy="5285232"/>
          </a:xfrm>
          <a:prstGeom prst="roundRect">
            <a:avLst>
              <a:gd name="adj" fmla="val 865"/>
            </a:avLst>
          </a:prstGeom>
          <a:solidFill>
            <a:srgbClr val="FFFFFF"/>
          </a:solidFill>
          <a:ln w="12700">
            <a:solidFill>
              <a:srgbClr val="D6E3D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3504" y="1014984"/>
            <a:ext cx="7818120" cy="523036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650224" y="1014984"/>
            <a:ext cx="2944368" cy="5230368"/>
          </a:xfrm>
          <a:prstGeom prst="roundRect">
            <a:avLst>
              <a:gd name="adj" fmla="val 2174"/>
            </a:avLst>
          </a:prstGeom>
          <a:solidFill>
            <a:srgbClr val="F2F8F6"/>
          </a:solidFill>
          <a:ln w="12700">
            <a:solidFill>
              <a:srgbClr val="D6E3D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887968" y="1280160"/>
            <a:ext cx="2450592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本页要点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887968" y="1783080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7C3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308592" y="1700784"/>
            <a:ext cx="19659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V1.x：标准演示、基础问数和POC能力。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8887968" y="2569464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91C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308592" y="2487168"/>
            <a:ext cx="19659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V2.0：企业级平台化、配置化、安全化、可运维化。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8887968" y="3355848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91C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9308592" y="3273552"/>
            <a:ext cx="19659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V3.0：从问数工具演进为智能经营分析与决策协同平台。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8887968" y="4142232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91C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04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308592" y="4059936"/>
            <a:ext cx="19659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当前状态：M0—M6、完整测试和迁移演练已通过；V2.0基线仍需完成长稳、安全审查和候选发布。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438912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07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24128" y="201168"/>
            <a:ext cx="891540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总体业务解决方案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168128" y="246888"/>
            <a:ext cx="144475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业务方案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30352" y="722376"/>
            <a:ext cx="11109960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7 / 32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76072" y="987552"/>
            <a:ext cx="7872984" cy="5285232"/>
          </a:xfrm>
          <a:prstGeom prst="roundRect">
            <a:avLst>
              <a:gd name="adj" fmla="val 865"/>
            </a:avLst>
          </a:prstGeom>
          <a:solidFill>
            <a:srgbClr val="FFFFFF"/>
          </a:solidFill>
          <a:ln w="12700">
            <a:solidFill>
              <a:srgbClr val="D6E3D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3504" y="1014984"/>
            <a:ext cx="7818120" cy="523036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650224" y="1014984"/>
            <a:ext cx="2944368" cy="5230368"/>
          </a:xfrm>
          <a:prstGeom prst="roundRect">
            <a:avLst>
              <a:gd name="adj" fmla="val 2174"/>
            </a:avLst>
          </a:prstGeom>
          <a:solidFill>
            <a:srgbClr val="F2F8F6"/>
          </a:solidFill>
          <a:ln w="12700">
            <a:solidFill>
              <a:srgbClr val="D6E3D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887968" y="1280160"/>
            <a:ext cx="2450592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本页要点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887968" y="1783080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7C3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308592" y="1700784"/>
            <a:ext cx="19659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用户提问 → 身份及权限识别 → 业务语义理解 → 指标与资产匹配 → 安全SQL生成执行 → 结果校验 → 文本/表格/图表回答 → 全程审计。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8887968" y="2569464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91C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308592" y="2487168"/>
            <a:ext cx="19659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五个能力中心：智能问数中心、数据资产与指标中心、权限与安全中心、配置与流程中心、运行监控与审计中心。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438912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7C3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08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24128" y="201168"/>
            <a:ext cx="891540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业务架构图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168128" y="246888"/>
            <a:ext cx="144475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业务方案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30352" y="722376"/>
            <a:ext cx="11109960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8 / 32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76072" y="987552"/>
            <a:ext cx="7872984" cy="5285232"/>
          </a:xfrm>
          <a:prstGeom prst="roundRect">
            <a:avLst>
              <a:gd name="adj" fmla="val 865"/>
            </a:avLst>
          </a:prstGeom>
          <a:solidFill>
            <a:srgbClr val="FFFFFF"/>
          </a:solidFill>
          <a:ln w="12700">
            <a:solidFill>
              <a:srgbClr val="D6E3D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3504" y="1014984"/>
            <a:ext cx="7818120" cy="523036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650224" y="1014984"/>
            <a:ext cx="2944368" cy="5230368"/>
          </a:xfrm>
          <a:prstGeom prst="roundRect">
            <a:avLst>
              <a:gd name="adj" fmla="val 2174"/>
            </a:avLst>
          </a:prstGeom>
          <a:solidFill>
            <a:srgbClr val="F2F8F6"/>
          </a:solidFill>
          <a:ln w="12700">
            <a:solidFill>
              <a:srgbClr val="D6E3D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887968" y="1280160"/>
            <a:ext cx="2450592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本页要点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887968" y="1783080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7C3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308592" y="1700784"/>
            <a:ext cx="19659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从用户渠道、业务应用、智能执行、平台管理到技术数据底座逐层说明；强调身份权限、数据安全、配置版本和审计贯穿全架构。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438912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09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24128" y="201168"/>
            <a:ext cx="891540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技术协作架构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168128" y="246888"/>
            <a:ext cx="144475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客户适配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30352" y="722376"/>
            <a:ext cx="11109960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9 / 32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76072" y="987552"/>
            <a:ext cx="7872984" cy="5285232"/>
          </a:xfrm>
          <a:prstGeom prst="roundRect">
            <a:avLst>
              <a:gd name="adj" fmla="val 865"/>
            </a:avLst>
          </a:prstGeom>
          <a:solidFill>
            <a:srgbClr val="FFFFFF"/>
          </a:solidFill>
          <a:ln w="12700">
            <a:solidFill>
              <a:srgbClr val="D6E3D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3504" y="1014984"/>
            <a:ext cx="7818120" cy="523036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650224" y="1014984"/>
            <a:ext cx="2944368" cy="5230368"/>
          </a:xfrm>
          <a:prstGeom prst="roundRect">
            <a:avLst>
              <a:gd name="adj" fmla="val 2174"/>
            </a:avLst>
          </a:prstGeom>
          <a:solidFill>
            <a:srgbClr val="F2F8F6"/>
          </a:solidFill>
          <a:ln w="12700">
            <a:solidFill>
              <a:srgbClr val="D6E3D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887968" y="1280160"/>
            <a:ext cx="2450592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本页要点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887968" y="1783080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7C3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308592" y="1700784"/>
            <a:ext cx="19659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Java负责确定性平台治理和企业入口，Python负责七层智能执行；平台数据库统一保存配置、运行与审计事实；模型和数据源通过适配器接入。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438912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10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24128" y="201168"/>
            <a:ext cx="891540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网络部署参考架构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168128" y="246888"/>
            <a:ext cx="144475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客户适配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30352" y="722376"/>
            <a:ext cx="11109960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10 / 32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76072" y="987552"/>
            <a:ext cx="7872984" cy="5285232"/>
          </a:xfrm>
          <a:prstGeom prst="roundRect">
            <a:avLst>
              <a:gd name="adj" fmla="val 865"/>
            </a:avLst>
          </a:prstGeom>
          <a:solidFill>
            <a:srgbClr val="FFFFFF"/>
          </a:solidFill>
          <a:ln w="12700">
            <a:solidFill>
              <a:srgbClr val="D6E3D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3504" y="1014984"/>
            <a:ext cx="7818120" cy="523036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650224" y="1014984"/>
            <a:ext cx="2944368" cy="5230368"/>
          </a:xfrm>
          <a:prstGeom prst="roundRect">
            <a:avLst>
              <a:gd name="adj" fmla="val 2174"/>
            </a:avLst>
          </a:prstGeom>
          <a:solidFill>
            <a:srgbClr val="F2F8F6"/>
          </a:solidFill>
          <a:ln w="12700">
            <a:solidFill>
              <a:srgbClr val="D6E3D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887968" y="1280160"/>
            <a:ext cx="2450592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本页要点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887968" y="1783080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7C3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308592" y="1700784"/>
            <a:ext cx="19659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用户访问区、应用服务区、数据与外部服务区分区；全链路TLS、业务库只读、凭据外置、管理入口受控。HA、KMS、网关和具体端口由客户适配确认。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438912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11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24128" y="201168"/>
            <a:ext cx="891540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七层执行机制总览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168128" y="246888"/>
            <a:ext cx="144475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业务方案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30352" y="722376"/>
            <a:ext cx="11109960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11 / 32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76072" y="987552"/>
            <a:ext cx="7872984" cy="5285232"/>
          </a:xfrm>
          <a:prstGeom prst="roundRect">
            <a:avLst>
              <a:gd name="adj" fmla="val 865"/>
            </a:avLst>
          </a:prstGeom>
          <a:solidFill>
            <a:srgbClr val="FFFFFF"/>
          </a:solidFill>
          <a:ln w="12700">
            <a:solidFill>
              <a:srgbClr val="D6E3D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3504" y="1014984"/>
            <a:ext cx="7818120" cy="523036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650224" y="1014984"/>
            <a:ext cx="2944368" cy="5230368"/>
          </a:xfrm>
          <a:prstGeom prst="roundRect">
            <a:avLst>
              <a:gd name="adj" fmla="val 2174"/>
            </a:avLst>
          </a:prstGeom>
          <a:solidFill>
            <a:srgbClr val="F2F8F6"/>
          </a:solidFill>
          <a:ln w="12700">
            <a:solidFill>
              <a:srgbClr val="D6E3D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887968" y="1280160"/>
            <a:ext cx="2450592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本页要点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887968" y="1783080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7C3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308592" y="1700784"/>
            <a:ext cx="19659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L1请求接入 → L2问题理解 → L3意图识别 → L4语义规划 → L5资产映射 → L6安全执行 → L7事实回答。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438912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7C3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12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24128" y="201168"/>
            <a:ext cx="891540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七层职责说明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168128" y="246888"/>
            <a:ext cx="144475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业务方案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30352" y="722376"/>
            <a:ext cx="11109960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12 / 32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051560"/>
          <a:ext cx="10881360" cy="5166360"/>
        </p:xfrm>
        <a:graphic>
          <a:graphicData uri="http://schemas.openxmlformats.org/drawingml/2006/table">
            <a:tbl>
              <a:tblPr/>
              <a:tblGrid>
                <a:gridCol w="3627120"/>
                <a:gridCol w="3627120"/>
                <a:gridCol w="36271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层级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74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核心职责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74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输出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74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L1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建立请求、会话和追踪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原始问句、Trace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L2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标准化问题并受约束抽取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标准化问句、权限上下文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L3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识别场景、指标、机构、时间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结构化业务参数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L4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形成语义计划、选择已发布资产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查询计划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L5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映射指标、维度、表和模板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受控资产映射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L6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参数化SQL、安全校验并执行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SQL事实、数据结果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L7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基于执行事实校验并回答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文本、表格、图表、引导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438912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13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24128" y="201168"/>
            <a:ext cx="891540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问数执行流程时序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168128" y="246888"/>
            <a:ext cx="144475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业务方案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30352" y="722376"/>
            <a:ext cx="11109960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13 / 32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12648" y="941832"/>
            <a:ext cx="10963656" cy="5404104"/>
          </a:xfrm>
          <a:prstGeom prst="roundRect">
            <a:avLst>
              <a:gd name="adj" fmla="val 846"/>
            </a:avLst>
          </a:prstGeom>
          <a:solidFill>
            <a:srgbClr val="FFFFFF"/>
          </a:solidFill>
          <a:ln w="12700">
            <a:solidFill>
              <a:srgbClr val="D6E3D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0080" y="969264"/>
            <a:ext cx="10908792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438912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14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24128" y="201168"/>
            <a:ext cx="891540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安全可信机制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168128" y="246888"/>
            <a:ext cx="144475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客户适配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30352" y="722376"/>
            <a:ext cx="11109960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14 / 32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76072" y="987552"/>
            <a:ext cx="7872984" cy="5285232"/>
          </a:xfrm>
          <a:prstGeom prst="roundRect">
            <a:avLst>
              <a:gd name="adj" fmla="val 865"/>
            </a:avLst>
          </a:prstGeom>
          <a:solidFill>
            <a:srgbClr val="FFFFFF"/>
          </a:solidFill>
          <a:ln w="12700">
            <a:solidFill>
              <a:srgbClr val="D6E3D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3504" y="1014984"/>
            <a:ext cx="7818120" cy="523036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650224" y="1014984"/>
            <a:ext cx="2944368" cy="5230368"/>
          </a:xfrm>
          <a:prstGeom prst="roundRect">
            <a:avLst>
              <a:gd name="adj" fmla="val 2174"/>
            </a:avLst>
          </a:prstGeom>
          <a:solidFill>
            <a:srgbClr val="F2F8F6"/>
          </a:solidFill>
          <a:ln w="12700">
            <a:solidFill>
              <a:srgbClr val="D6E3D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887968" y="1280160"/>
            <a:ext cx="2450592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本页要点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887968" y="1783080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7C3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308592" y="1700784"/>
            <a:ext cx="19659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身份、角色和机构权限快照固定。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8887968" y="2569464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91C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308592" y="2487168"/>
            <a:ext cx="19659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指标、表、字段和模板采用白名单。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8887968" y="3355848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91C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9308592" y="3273552"/>
            <a:ext cx="19659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SQL AST结构检查，只允许受控只读查询。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8887968" y="4142232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91C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04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308592" y="4059936"/>
            <a:ext cx="19659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注入机构和时间范围，限制行数与扫描量。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8887968" y="4928616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91C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05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9308592" y="4846320"/>
            <a:ext cx="19659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模型异常不伪造成功，回答必须引用实际事实。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438912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15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24128" y="201168"/>
            <a:ext cx="891540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用户端能力全景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168128" y="246888"/>
            <a:ext cx="144475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产品能力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30352" y="722376"/>
            <a:ext cx="11109960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15 / 32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30936" y="1042416"/>
            <a:ext cx="6958584" cy="5010912"/>
          </a:xfrm>
          <a:prstGeom prst="roundRect">
            <a:avLst>
              <a:gd name="adj" fmla="val 912"/>
            </a:avLst>
          </a:prstGeom>
          <a:solidFill>
            <a:srgbClr val="FFFFFF"/>
          </a:solidFill>
          <a:ln w="12700">
            <a:solidFill>
              <a:srgbClr val="D6E3DF"/>
            </a:solidFill>
            <a:prstDash val="solid"/>
          </a:ln>
        </p:spPr>
      </p:sp>
      <p:pic>
        <p:nvPicPr>
          <p:cNvPr id="9" name="Image 0" descr="/workspaces/askdatademo/docs/ppt-v2-v3/assets/05-user-home-prototy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069848"/>
            <a:ext cx="6903720" cy="495604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726680" y="1042416"/>
            <a:ext cx="3831336" cy="2542032"/>
          </a:xfrm>
          <a:prstGeom prst="roundRect">
            <a:avLst>
              <a:gd name="adj" fmla="val 1799"/>
            </a:avLst>
          </a:prstGeom>
          <a:solidFill>
            <a:srgbClr val="FFFFFF"/>
          </a:solidFill>
          <a:ln w="12700">
            <a:solidFill>
              <a:srgbClr val="D6E3DF"/>
            </a:solidFill>
            <a:prstDash val="solid"/>
          </a:ln>
        </p:spPr>
      </p:sp>
      <p:pic>
        <p:nvPicPr>
          <p:cNvPr id="11" name="Image 1" descr="/workspaces/askdatademo/docs/ppt-v2-v3/assets/06-user-query-result-prototyp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4112" y="1069848"/>
            <a:ext cx="3776472" cy="248716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754112" y="3730752"/>
            <a:ext cx="3776472" cy="475488"/>
          </a:xfrm>
          <a:prstGeom prst="roundRect">
            <a:avLst>
              <a:gd name="adj" fmla="val 15385"/>
            </a:avLst>
          </a:prstGeom>
          <a:solidFill>
            <a:srgbClr val="F2F8F6"/>
          </a:solidFill>
          <a:ln w="12700">
            <a:solidFill>
              <a:srgbClr val="D6E3DF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918704" y="3904488"/>
            <a:ext cx="118872" cy="118872"/>
          </a:xfrm>
          <a:prstGeom prst="ellipse">
            <a:avLst/>
          </a:prstGeom>
          <a:solidFill>
            <a:srgbClr val="17745F"/>
          </a:solidFill>
          <a:ln w="12700">
            <a:solidFill>
              <a:srgbClr val="17745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101584" y="3849624"/>
            <a:ext cx="3273552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自然语言提问、八大标准场景、角色权限问数、实时七层轨迹、流式回答、表格图表、SQL记录、多轮追问、缺参引导、推荐问题、执行取消、异常说明。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7818120" y="6108192"/>
            <a:ext cx="356616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F47C3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演示环境 / 演示数据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438912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7C3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16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24128" y="201168"/>
            <a:ext cx="891540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八类标准业务场景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168128" y="246888"/>
            <a:ext cx="144475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产品能力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30352" y="722376"/>
            <a:ext cx="11109960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16 / 32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76072" y="987552"/>
            <a:ext cx="7872984" cy="5285232"/>
          </a:xfrm>
          <a:prstGeom prst="roundRect">
            <a:avLst>
              <a:gd name="adj" fmla="val 865"/>
            </a:avLst>
          </a:prstGeom>
          <a:solidFill>
            <a:srgbClr val="FFFFFF"/>
          </a:solidFill>
          <a:ln w="12700">
            <a:solidFill>
              <a:srgbClr val="D6E3D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3504" y="1014984"/>
            <a:ext cx="7818120" cy="523036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650224" y="1014984"/>
            <a:ext cx="2944368" cy="5230368"/>
          </a:xfrm>
          <a:prstGeom prst="roundRect">
            <a:avLst>
              <a:gd name="adj" fmla="val 2174"/>
            </a:avLst>
          </a:prstGeom>
          <a:solidFill>
            <a:srgbClr val="F2F8F6"/>
          </a:solidFill>
          <a:ln w="12700">
            <a:solidFill>
              <a:srgbClr val="D6E3D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887968" y="1280160"/>
            <a:ext cx="2450592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本页要点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887968" y="1783080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7C3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308592" y="1700784"/>
            <a:ext cx="19659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基础指标查询；2. 经营驾驶舱导航；3. 同比环比及趋势；4. 机构排名与横向对比；5. 多指标组合查询；6. 明细查询与下钻；7. 缺参识别与补充引导；8. 权限拦截、异常处理与推荐问法。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438912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17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24128" y="201168"/>
            <a:ext cx="891540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典型场景：指标与趋势分析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168128" y="246888"/>
            <a:ext cx="144475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产品能力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30352" y="722376"/>
            <a:ext cx="11109960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17 / 32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76072" y="987552"/>
            <a:ext cx="7552944" cy="5285232"/>
          </a:xfrm>
          <a:prstGeom prst="roundRect">
            <a:avLst>
              <a:gd name="adj" fmla="val 865"/>
            </a:avLst>
          </a:prstGeom>
          <a:solidFill>
            <a:srgbClr val="FFFFFF"/>
          </a:solidFill>
          <a:ln w="12700">
            <a:solidFill>
              <a:srgbClr val="D6E3DF"/>
            </a:solidFill>
            <a:prstDash val="solid"/>
          </a:ln>
        </p:spPr>
      </p:sp>
      <p:pic>
        <p:nvPicPr>
          <p:cNvPr id="9" name="Image 0" descr="/workspaces/askdatademo/docs/ppt-v2-v3/assets/06-user-query-result-prototy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014984"/>
            <a:ext cx="7498080" cy="523036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650224" y="1014984"/>
            <a:ext cx="2944368" cy="5230368"/>
          </a:xfrm>
          <a:prstGeom prst="roundRect">
            <a:avLst>
              <a:gd name="adj" fmla="val 2174"/>
            </a:avLst>
          </a:prstGeom>
          <a:solidFill>
            <a:srgbClr val="F2F8F6"/>
          </a:solidFill>
          <a:ln w="12700">
            <a:solidFill>
              <a:srgbClr val="D6E3D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887968" y="1280160"/>
            <a:ext cx="2450592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本页要点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887968" y="1783080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7C3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308592" y="1700784"/>
            <a:ext cx="19659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示例：“查询2026年3月各分行零售贷款同比变化。”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8887968" y="2569464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91C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308592" y="2487168"/>
            <a:ext cx="19659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自动识别：时间、机构范围、指标、同比意图。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8887968" y="3355848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91C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9308592" y="3273552"/>
            <a:ext cx="19659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执行控制：角色权限过滤、受控指标与SQL模板匹配。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8887968" y="4142232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91C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04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308592" y="4059936"/>
            <a:ext cx="19659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输出：业务结论、结果表格、同比图表及后续追问。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438912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18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24128" y="201168"/>
            <a:ext cx="891540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典型场景：驾驶舱导航与多轮下钻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168128" y="246888"/>
            <a:ext cx="144475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产品能力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30352" y="722376"/>
            <a:ext cx="11109960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18 / 32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8368" y="1078992"/>
            <a:ext cx="5340096" cy="1463040"/>
          </a:xfrm>
          <a:prstGeom prst="roundRect">
            <a:avLst>
              <a:gd name="adj" fmla="val 5000"/>
            </a:avLst>
          </a:prstGeom>
          <a:solidFill>
            <a:srgbClr val="F2F8F6"/>
          </a:solidFill>
          <a:ln w="12700">
            <a:solidFill>
              <a:srgbClr val="D6E3D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252728"/>
            <a:ext cx="118872" cy="118872"/>
          </a:xfrm>
          <a:prstGeom prst="ellipse">
            <a:avLst/>
          </a:prstGeom>
          <a:solidFill>
            <a:srgbClr val="17745F"/>
          </a:solidFill>
          <a:ln w="12700">
            <a:solidFill>
              <a:srgbClr val="1774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197864"/>
            <a:ext cx="4837176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根据当前角色只推荐有权访问的驾驶舱。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99632" y="1078992"/>
            <a:ext cx="5340096" cy="1463040"/>
          </a:xfrm>
          <a:prstGeom prst="roundRect">
            <a:avLst>
              <a:gd name="adj" fmla="val 5000"/>
            </a:avLst>
          </a:prstGeom>
          <a:solidFill>
            <a:srgbClr val="EEF4FA"/>
          </a:solidFill>
          <a:ln w="12700">
            <a:solidFill>
              <a:srgbClr val="D6E3D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64224" y="1252728"/>
            <a:ext cx="118872" cy="118872"/>
          </a:xfrm>
          <a:prstGeom prst="ellipse">
            <a:avLst/>
          </a:prstGeom>
          <a:solidFill>
            <a:srgbClr val="5C91C8"/>
          </a:solidFill>
          <a:ln w="12700">
            <a:solidFill>
              <a:srgbClr val="5C91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47104" y="1197864"/>
            <a:ext cx="4837176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支持从全行结果追问某分行、某指标或某时间段。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58368" y="2743200"/>
            <a:ext cx="5340096" cy="1463040"/>
          </a:xfrm>
          <a:prstGeom prst="roundRect">
            <a:avLst>
              <a:gd name="adj" fmla="val 5000"/>
            </a:avLst>
          </a:prstGeom>
          <a:solidFill>
            <a:srgbClr val="F7F9FB"/>
          </a:solidFill>
          <a:ln w="12700">
            <a:solidFill>
              <a:srgbClr val="D6E3D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2916936"/>
            <a:ext cx="118872" cy="118872"/>
          </a:xfrm>
          <a:prstGeom prst="ellipse">
            <a:avLst/>
          </a:prstGeom>
          <a:solidFill>
            <a:srgbClr val="17745F"/>
          </a:solidFill>
          <a:ln w="12700">
            <a:solidFill>
              <a:srgbClr val="1774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2862072"/>
            <a:ext cx="4837176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缺少必要参数时先引导补充，不盲目访问数据源。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99632" y="2743200"/>
            <a:ext cx="5340096" cy="1463040"/>
          </a:xfrm>
          <a:prstGeom prst="roundRect">
            <a:avLst>
              <a:gd name="adj" fmla="val 5000"/>
            </a:avLst>
          </a:prstGeom>
          <a:solidFill>
            <a:srgbClr val="FFF4EC"/>
          </a:solidFill>
          <a:ln w="12700">
            <a:solidFill>
              <a:srgbClr val="F8C8A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64224" y="2916936"/>
            <a:ext cx="118872" cy="118872"/>
          </a:xfrm>
          <a:prstGeom prst="ellipse">
            <a:avLst/>
          </a:prstGeom>
          <a:solidFill>
            <a:srgbClr val="F47C3C"/>
          </a:solidFill>
          <a:ln w="12700">
            <a:solidFill>
              <a:srgbClr val="F47C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47104" y="2862072"/>
            <a:ext cx="4837176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角色切换后建立新权限上下文，避免上下文污染。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438912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19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24128" y="201168"/>
            <a:ext cx="891540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管理端能力全景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168128" y="246888"/>
            <a:ext cx="144475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产品能力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30352" y="722376"/>
            <a:ext cx="11109960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19 / 32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30936" y="1042416"/>
            <a:ext cx="6958584" cy="5010912"/>
          </a:xfrm>
          <a:prstGeom prst="roundRect">
            <a:avLst>
              <a:gd name="adj" fmla="val 912"/>
            </a:avLst>
          </a:prstGeom>
          <a:solidFill>
            <a:srgbClr val="FFFFFF"/>
          </a:solidFill>
          <a:ln w="12700">
            <a:solidFill>
              <a:srgbClr val="D6E3D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8368" y="1069848"/>
            <a:ext cx="6903720" cy="495604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726680" y="1042416"/>
            <a:ext cx="3831336" cy="2542032"/>
          </a:xfrm>
          <a:prstGeom prst="roundRect">
            <a:avLst>
              <a:gd name="adj" fmla="val 1799"/>
            </a:avLst>
          </a:prstGeom>
          <a:solidFill>
            <a:srgbClr val="FFFFFF"/>
          </a:solidFill>
          <a:ln w="12700">
            <a:solidFill>
              <a:srgbClr val="D6E3DF"/>
            </a:solidFill>
            <a:prstDash val="solid"/>
          </a:ln>
        </p:spPr>
      </p:sp>
      <p:pic>
        <p:nvPicPr>
          <p:cNvPr id="11" name="Image 1" descr="/workspaces/askdatademo/docs/ppt-v2-v3/assets/07-admin-home-prototyp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4112" y="1069848"/>
            <a:ext cx="3776472" cy="248716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754112" y="3730752"/>
            <a:ext cx="3776472" cy="475488"/>
          </a:xfrm>
          <a:prstGeom prst="roundRect">
            <a:avLst>
              <a:gd name="adj" fmla="val 15385"/>
            </a:avLst>
          </a:prstGeom>
          <a:solidFill>
            <a:srgbClr val="F2F8F6"/>
          </a:solidFill>
          <a:ln w="12700">
            <a:solidFill>
              <a:srgbClr val="D6E3DF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918704" y="3904488"/>
            <a:ext cx="118872" cy="118872"/>
          </a:xfrm>
          <a:prstGeom prst="ellipse">
            <a:avLst/>
          </a:prstGeom>
          <a:solidFill>
            <a:srgbClr val="17745F"/>
          </a:solidFill>
          <a:ln w="12700">
            <a:solidFill>
              <a:srgbClr val="17745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101584" y="3849624"/>
            <a:ext cx="3273552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组织权限、数据资产、指标维度、场景流程、SQL模板、模型配置、数据源配置、运行组合、审批发布、日志监控、告警审计、备份恢复。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7818120" y="6108192"/>
            <a:ext cx="356616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F47C3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演示环境 / 演示数据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438912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7C3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20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24128" y="201168"/>
            <a:ext cx="891540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组织、权限与审批管理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168128" y="246888"/>
            <a:ext cx="144475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产品能力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30352" y="722376"/>
            <a:ext cx="11109960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20 / 32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76072" y="987552"/>
            <a:ext cx="7552944" cy="5285232"/>
          </a:xfrm>
          <a:prstGeom prst="roundRect">
            <a:avLst>
              <a:gd name="adj" fmla="val 865"/>
            </a:avLst>
          </a:prstGeom>
          <a:solidFill>
            <a:srgbClr val="FFFFFF"/>
          </a:solidFill>
          <a:ln w="12700">
            <a:solidFill>
              <a:srgbClr val="D6E3DF"/>
            </a:solidFill>
            <a:prstDash val="solid"/>
          </a:ln>
        </p:spPr>
      </p:sp>
      <p:pic>
        <p:nvPicPr>
          <p:cNvPr id="9" name="Image 0" descr="/workspaces/askdatademo/docs/ppt-v2-v3/assets/08-admin-users-prototy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014984"/>
            <a:ext cx="7498080" cy="523036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650224" y="1014984"/>
            <a:ext cx="2944368" cy="5230368"/>
          </a:xfrm>
          <a:prstGeom prst="roundRect">
            <a:avLst>
              <a:gd name="adj" fmla="val 2174"/>
            </a:avLst>
          </a:prstGeom>
          <a:solidFill>
            <a:srgbClr val="F2F8F6"/>
          </a:solidFill>
          <a:ln w="12700">
            <a:solidFill>
              <a:srgbClr val="D6E3D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887968" y="1280160"/>
            <a:ext cx="2450592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本页要点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887968" y="1783080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7C3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308592" y="1700784"/>
            <a:ext cx="19659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组织、用户、角色和外部身份映射。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8887968" y="2569464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91C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308592" y="2487168"/>
            <a:ext cx="19659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功能、指标、表、字段和机构范围授权。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8887968" y="3355848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91C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9308592" y="3273552"/>
            <a:ext cx="19659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会话权限快照及授权变更失效。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8887968" y="4142232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91C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04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308592" y="4059936"/>
            <a:ext cx="19659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多级审批、候选人快照和发布授权。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8887968" y="4928616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91C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05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9308592" y="4846320"/>
            <a:ext cx="19659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发布、回滚与敏感操作防篡改审计。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438912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21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24128" y="201168"/>
            <a:ext cx="891540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数据资产与业务配置管理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168128" y="246888"/>
            <a:ext cx="144475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产品能力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30352" y="722376"/>
            <a:ext cx="11109960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21 / 32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76072" y="987552"/>
            <a:ext cx="7552944" cy="5285232"/>
          </a:xfrm>
          <a:prstGeom prst="roundRect">
            <a:avLst>
              <a:gd name="adj" fmla="val 865"/>
            </a:avLst>
          </a:prstGeom>
          <a:solidFill>
            <a:srgbClr val="FFFFFF"/>
          </a:solidFill>
          <a:ln w="12700">
            <a:solidFill>
              <a:srgbClr val="D6E3DF"/>
            </a:solidFill>
            <a:prstDash val="solid"/>
          </a:ln>
        </p:spPr>
      </p:sp>
      <p:pic>
        <p:nvPicPr>
          <p:cNvPr id="9" name="Image 0" descr="/workspaces/askdatademo/docs/ppt-v2-v3/assets/09-admin-metrics-prototy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014984"/>
            <a:ext cx="7498080" cy="523036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650224" y="1014984"/>
            <a:ext cx="2944368" cy="5230368"/>
          </a:xfrm>
          <a:prstGeom prst="roundRect">
            <a:avLst>
              <a:gd name="adj" fmla="val 2174"/>
            </a:avLst>
          </a:prstGeom>
          <a:solidFill>
            <a:srgbClr val="F2F8F6"/>
          </a:solidFill>
          <a:ln w="12700">
            <a:solidFill>
              <a:srgbClr val="D6E3D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887968" y="1280160"/>
            <a:ext cx="2450592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本页要点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887968" y="1783080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7C3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308592" y="1700784"/>
            <a:ext cx="19659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数据源、表、字段、指标、维度及业务口径。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8887968" y="2569464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91C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308592" y="2487168"/>
            <a:ext cx="19659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指标与物理数据资产映射、同义词和血缘。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8887968" y="3355848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91C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9308592" y="3273552"/>
            <a:ext cx="19659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SQL模板、参数、机构和时间约束。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8887968" y="4142232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91C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04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308592" y="4059936"/>
            <a:ext cx="19659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场景、用例、推荐问题和回答话术。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8887968" y="4928616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91C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05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9308592" y="4846320"/>
            <a:ext cx="19659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敏感等级、版本及发布关系。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438912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22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24128" y="201168"/>
            <a:ext cx="891540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模型、数据源与运行管理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168128" y="246888"/>
            <a:ext cx="144475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产品能力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30352" y="722376"/>
            <a:ext cx="11109960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22 / 32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30936" y="1042416"/>
            <a:ext cx="6958584" cy="5010912"/>
          </a:xfrm>
          <a:prstGeom prst="roundRect">
            <a:avLst>
              <a:gd name="adj" fmla="val 912"/>
            </a:avLst>
          </a:prstGeom>
          <a:solidFill>
            <a:srgbClr val="FFFFFF"/>
          </a:solidFill>
          <a:ln w="12700">
            <a:solidFill>
              <a:srgbClr val="D6E3DF"/>
            </a:solidFill>
            <a:prstDash val="solid"/>
          </a:ln>
        </p:spPr>
      </p:sp>
      <p:pic>
        <p:nvPicPr>
          <p:cNvPr id="9" name="Image 0" descr="/workspaces/askdatademo/docs/ppt-v2-v3/assets/10-admin-models-prototy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069848"/>
            <a:ext cx="6903720" cy="495604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726680" y="1042416"/>
            <a:ext cx="3831336" cy="2542032"/>
          </a:xfrm>
          <a:prstGeom prst="roundRect">
            <a:avLst>
              <a:gd name="adj" fmla="val 1799"/>
            </a:avLst>
          </a:prstGeom>
          <a:solidFill>
            <a:srgbClr val="FFFFFF"/>
          </a:solidFill>
          <a:ln w="12700">
            <a:solidFill>
              <a:srgbClr val="D6E3DF"/>
            </a:solidFill>
            <a:prstDash val="solid"/>
          </a:ln>
        </p:spPr>
      </p:sp>
      <p:pic>
        <p:nvPicPr>
          <p:cNvPr id="11" name="Image 1" descr="/workspaces/askdatademo/docs/ppt-v2-v3/assets/11-admin-datasources-prototyp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4112" y="1069848"/>
            <a:ext cx="3776472" cy="248716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754112" y="3730752"/>
            <a:ext cx="3776472" cy="475488"/>
          </a:xfrm>
          <a:prstGeom prst="roundRect">
            <a:avLst>
              <a:gd name="adj" fmla="val 15385"/>
            </a:avLst>
          </a:prstGeom>
          <a:solidFill>
            <a:srgbClr val="F2F8F6"/>
          </a:solidFill>
          <a:ln w="12700">
            <a:solidFill>
              <a:srgbClr val="D6E3DF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918704" y="3904488"/>
            <a:ext cx="118872" cy="118872"/>
          </a:xfrm>
          <a:prstGeom prst="ellipse">
            <a:avLst/>
          </a:prstGeom>
          <a:solidFill>
            <a:srgbClr val="17745F"/>
          </a:solidFill>
          <a:ln w="12700">
            <a:solidFill>
              <a:srgbClr val="17745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101584" y="3849624"/>
            <a:ext cx="3273552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模型参数与数据源连接分离配置。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7754112" y="4306824"/>
            <a:ext cx="3776472" cy="475488"/>
          </a:xfrm>
          <a:prstGeom prst="roundRect">
            <a:avLst>
              <a:gd name="adj" fmla="val 15385"/>
            </a:avLst>
          </a:prstGeom>
          <a:solidFill>
            <a:srgbClr val="EEF4FA"/>
          </a:solidFill>
          <a:ln w="12700">
            <a:solidFill>
              <a:srgbClr val="D6E3D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918704" y="4480560"/>
            <a:ext cx="118872" cy="118872"/>
          </a:xfrm>
          <a:prstGeom prst="ellipse">
            <a:avLst/>
          </a:prstGeom>
          <a:solidFill>
            <a:srgbClr val="5C91C8"/>
          </a:solidFill>
          <a:ln w="12700">
            <a:solidFill>
              <a:srgbClr val="5C91C8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101584" y="4425696"/>
            <a:ext cx="3273552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API Key、密码等秘密不回显、不写日志。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7754112" y="4882896"/>
            <a:ext cx="3776472" cy="475488"/>
          </a:xfrm>
          <a:prstGeom prst="roundRect">
            <a:avLst>
              <a:gd name="adj" fmla="val 15385"/>
            </a:avLst>
          </a:prstGeom>
          <a:solidFill>
            <a:srgbClr val="F7F9FB"/>
          </a:solidFill>
          <a:ln w="12700">
            <a:solidFill>
              <a:srgbClr val="D6E3DF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918704" y="5056632"/>
            <a:ext cx="118872" cy="118872"/>
          </a:xfrm>
          <a:prstGeom prst="ellipse">
            <a:avLst/>
          </a:prstGeom>
          <a:solidFill>
            <a:srgbClr val="17745F"/>
          </a:solidFill>
          <a:ln w="12700">
            <a:solidFill>
              <a:srgbClr val="17745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8101584" y="5001768"/>
            <a:ext cx="3273552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数据源只读、白名单、超时、重试和并发限制。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7754112" y="5458968"/>
            <a:ext cx="3776472" cy="475488"/>
          </a:xfrm>
          <a:prstGeom prst="roundRect">
            <a:avLst>
              <a:gd name="adj" fmla="val 15385"/>
            </a:avLst>
          </a:prstGeom>
          <a:solidFill>
            <a:srgbClr val="FFF4EC"/>
          </a:solidFill>
          <a:ln w="12700">
            <a:solidFill>
              <a:srgbClr val="F8C8AA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7918704" y="5632704"/>
            <a:ext cx="118872" cy="118872"/>
          </a:xfrm>
          <a:prstGeom prst="ellipse">
            <a:avLst/>
          </a:prstGeom>
          <a:solidFill>
            <a:srgbClr val="F47C3C"/>
          </a:solidFill>
          <a:ln w="12700">
            <a:solidFill>
              <a:srgbClr val="F47C3C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8101584" y="5577840"/>
            <a:ext cx="3273552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模型、数据源和运行组合独立诊断与启用。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7818120" y="6108192"/>
            <a:ext cx="356616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F47C3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演示环境 / 演示数据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438912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23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24128" y="201168"/>
            <a:ext cx="891540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运行监控、告警与审计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168128" y="246888"/>
            <a:ext cx="144475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业务方案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30352" y="722376"/>
            <a:ext cx="11109960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23 / 32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76072" y="987552"/>
            <a:ext cx="7552944" cy="5285232"/>
          </a:xfrm>
          <a:prstGeom prst="roundRect">
            <a:avLst>
              <a:gd name="adj" fmla="val 865"/>
            </a:avLst>
          </a:prstGeom>
          <a:solidFill>
            <a:srgbClr val="FFFFFF"/>
          </a:solidFill>
          <a:ln w="12700">
            <a:solidFill>
              <a:srgbClr val="D6E3DF"/>
            </a:solidFill>
            <a:prstDash val="solid"/>
          </a:ln>
        </p:spPr>
      </p:sp>
      <p:pic>
        <p:nvPicPr>
          <p:cNvPr id="9" name="Image 0" descr="/workspaces/askdatademo/docs/ppt-v2-v3/assets/12-admin-query-logs-prototy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014984"/>
            <a:ext cx="7498080" cy="523036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650224" y="1014984"/>
            <a:ext cx="2944368" cy="5230368"/>
          </a:xfrm>
          <a:prstGeom prst="roundRect">
            <a:avLst>
              <a:gd name="adj" fmla="val 2174"/>
            </a:avLst>
          </a:prstGeom>
          <a:solidFill>
            <a:srgbClr val="F2F8F6"/>
          </a:solidFill>
          <a:ln w="12700">
            <a:solidFill>
              <a:srgbClr val="D6E3D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887968" y="1280160"/>
            <a:ext cx="2450592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本页要点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887968" y="1783080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7C3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308592" y="1700784"/>
            <a:ext cx="19659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会话、请求、七层轨迹和终止状态。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8887968" y="2569464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91C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308592" y="2487168"/>
            <a:ext cx="19659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SQL耗时、行数、错误及降级信息。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8887968" y="3355848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91C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9308592" y="3273552"/>
            <a:ext cx="19659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模型与数据源Provider调用记录。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8887968" y="4142232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91C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04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308592" y="4059936"/>
            <a:ext cx="19659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队列、并发、SSE、取消和超载状态。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8887968" y="4928616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91C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05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9308592" y="4846320"/>
            <a:ext cx="19659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成功率、响应时间、告警通知和审计链。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438912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7C3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24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24128" y="201168"/>
            <a:ext cx="891540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方案特点与优势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168128" y="246888"/>
            <a:ext cx="144475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业务方案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30352" y="722376"/>
            <a:ext cx="11109960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24 / 32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8368" y="1078992"/>
            <a:ext cx="5340096" cy="1463040"/>
          </a:xfrm>
          <a:prstGeom prst="roundRect">
            <a:avLst>
              <a:gd name="adj" fmla="val 5000"/>
            </a:avLst>
          </a:prstGeom>
          <a:solidFill>
            <a:srgbClr val="F2F8F6"/>
          </a:solidFill>
          <a:ln w="12700">
            <a:solidFill>
              <a:srgbClr val="D6E3D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252728"/>
            <a:ext cx="118872" cy="118872"/>
          </a:xfrm>
          <a:prstGeom prst="ellipse">
            <a:avLst/>
          </a:prstGeom>
          <a:solidFill>
            <a:srgbClr val="17745F"/>
          </a:solidFill>
          <a:ln w="12700">
            <a:solidFill>
              <a:srgbClr val="1774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197864"/>
            <a:ext cx="4837176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业务友好、口径统一、权限可信、SQL安全、结果可靠、过程透明、平台可管、架构可扩展。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438912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25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24128" y="201168"/>
            <a:ext cx="891540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业务价值与衡量指标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168128" y="246888"/>
            <a:ext cx="144475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业务方案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30352" y="722376"/>
            <a:ext cx="11109960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25 / 32</a:t>
            </a:r>
            <a:endParaRPr lang="en-US" sz="9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051560"/>
          <a:ext cx="10881360" cy="5166360"/>
        </p:xfrm>
        <a:graphic>
          <a:graphicData uri="http://schemas.openxmlformats.org/drawingml/2006/table">
            <a:tbl>
              <a:tblPr/>
              <a:tblGrid>
                <a:gridCol w="5440680"/>
                <a:gridCol w="54406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价值方向</a:t>
                      </a:r>
                      <a:endParaRPr lang="en-US" sz="16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74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建议指标</a:t>
                      </a:r>
                      <a:endParaRPr lang="en-US" sz="16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74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效率</a:t>
                      </a:r>
                      <a:endParaRPr lang="en-US" sz="16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平均取数周期、自助完成率、人工工单减少率</a:t>
                      </a:r>
                      <a:endParaRPr lang="en-US" sz="16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质量</a:t>
                      </a:r>
                      <a:endParaRPr lang="en-US" sz="16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黄金问题准确率、口径一致率、对账通过率</a:t>
                      </a:r>
                      <a:endParaRPr lang="en-US" sz="16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安全</a:t>
                      </a:r>
                      <a:endParaRPr lang="en-US" sz="16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越权拦截率、高危SQL拦截率、审计覆盖率</a:t>
                      </a:r>
                      <a:endParaRPr lang="en-US" sz="16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体验</a:t>
                      </a:r>
                      <a:endParaRPr lang="en-US" sz="16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活跃用户、追问率、满意度、结果复用率</a:t>
                      </a:r>
                      <a:endParaRPr lang="en-US" sz="16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运维</a:t>
                      </a:r>
                      <a:endParaRPr lang="en-US" sz="16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成功率、响应时间、恢复时间、告警闭环率</a:t>
                      </a:r>
                      <a:endParaRPr lang="en-US" sz="16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438912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26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24128" y="201168"/>
            <a:ext cx="891540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实施与验收路径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168128" y="246888"/>
            <a:ext cx="144475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客户适配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30352" y="722376"/>
            <a:ext cx="11109960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26 / 32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76072" y="987552"/>
            <a:ext cx="7872984" cy="5285232"/>
          </a:xfrm>
          <a:prstGeom prst="roundRect">
            <a:avLst>
              <a:gd name="adj" fmla="val 865"/>
            </a:avLst>
          </a:prstGeom>
          <a:solidFill>
            <a:srgbClr val="FFFFFF"/>
          </a:solidFill>
          <a:ln w="12700">
            <a:solidFill>
              <a:srgbClr val="D6E3D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3504" y="1014984"/>
            <a:ext cx="7818120" cy="523036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650224" y="1014984"/>
            <a:ext cx="2944368" cy="5230368"/>
          </a:xfrm>
          <a:prstGeom prst="roundRect">
            <a:avLst>
              <a:gd name="adj" fmla="val 2174"/>
            </a:avLst>
          </a:prstGeom>
          <a:solidFill>
            <a:srgbClr val="F2F8F6"/>
          </a:solidFill>
          <a:ln w="12700">
            <a:solidFill>
              <a:srgbClr val="D6E3D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887968" y="1280160"/>
            <a:ext cx="2450592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本页要点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887968" y="1783080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7C3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308592" y="1700784"/>
            <a:ext cx="19659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现状调研与差距分析 → 环境适配 → 数据资产/权限配置 → 真实联调与黄金问题对账 → 试运行与验收上线。</a:t>
            </a:r>
            <a:endParaRPr lang="en-US" sz="13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438912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27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24128" y="201168"/>
            <a:ext cx="891540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V2.0系统架构与能力边界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168128" y="246888"/>
            <a:ext cx="144475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产品能力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30352" y="722376"/>
            <a:ext cx="11109960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27 / 32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76072" y="987552"/>
            <a:ext cx="7872984" cy="5285232"/>
          </a:xfrm>
          <a:prstGeom prst="roundRect">
            <a:avLst>
              <a:gd name="adj" fmla="val 865"/>
            </a:avLst>
          </a:prstGeom>
          <a:solidFill>
            <a:srgbClr val="FFFFFF"/>
          </a:solidFill>
          <a:ln w="12700">
            <a:solidFill>
              <a:srgbClr val="D6E3D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3504" y="1014984"/>
            <a:ext cx="7818120" cy="523036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650224" y="1014984"/>
            <a:ext cx="2944368" cy="5230368"/>
          </a:xfrm>
          <a:prstGeom prst="roundRect">
            <a:avLst>
              <a:gd name="adj" fmla="val 2174"/>
            </a:avLst>
          </a:prstGeom>
          <a:solidFill>
            <a:srgbClr val="F2F8F6"/>
          </a:solidFill>
          <a:ln w="12700">
            <a:solidFill>
              <a:srgbClr val="D6E3D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887968" y="1280160"/>
            <a:ext cx="2450592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本页要点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887968" y="1783080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7C3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308592" y="1700784"/>
            <a:ext cx="19659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产品定位：面向企业经营管理的安全可信自然语言问数平台。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8887968" y="2569464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91C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308592" y="2487168"/>
            <a:ext cx="19659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Java控制面负责身份权限、配置审批、发布回滚、运行主记录和审计治理。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8887968" y="3355848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91C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9308592" y="3273552"/>
            <a:ext cx="19659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Python执行面负责固定L1—L7问数链路；模型只参与L2理解和L7解读。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8887968" y="4142232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91C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04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308592" y="4059936"/>
            <a:ext cx="19659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主要数据能力是已发布指标与字段映射、受控SQL模板及结构化数据源查询。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8887968" y="4928616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91C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05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9308592" y="4846320"/>
            <a:ext cx="19659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V2.0以用户主动提问、一问一查或少量多SQL、事实回答为主要形态。</a:t>
            </a:r>
            <a:endParaRPr lang="en-US" sz="13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438912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7C3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28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24128" y="201168"/>
            <a:ext cx="891540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从V2.0到V3.0：产品定位变化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168128" y="246888"/>
            <a:ext cx="144475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演进规划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30352" y="722376"/>
            <a:ext cx="11109960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28 / 32</a:t>
            </a:r>
            <a:endParaRPr lang="en-US" sz="9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051560"/>
          <a:ext cx="10881360" cy="5166360"/>
        </p:xfrm>
        <a:graphic>
          <a:graphicData uri="http://schemas.openxmlformats.org/drawingml/2006/table">
            <a:tbl>
              <a:tblPr/>
              <a:tblGrid>
                <a:gridCol w="3627120"/>
                <a:gridCol w="3627120"/>
                <a:gridCol w="36271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对比维度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74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V2.0产品基线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74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V3.0规划能力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74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产品定位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安全可信的企业自然语言问数平台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领域能力驱动的智能经营分析与决策协同平台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触发方式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用户主动提问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提问、订阅、预警、智能报告和分析智能体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任务形态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一问一查或少量多SQL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一问多查、多步骤、多数据源计划DAG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业务组织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场景、指标、模板和流程配置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可版本化、可审批的领域能力包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数据范围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结构化数据库为主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数据库、业务API、文档、知识图谱和实时数据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输出结果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事实摘要、表格、图表和追问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综合结论、异常归因、预测、证据和行动建议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治理重点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权限、SQL安全、事实一致性和全程审计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跨域授权、任务完整性、证据链、成本配额和人工确认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438912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29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24128" y="201168"/>
            <a:ext cx="891540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V2.0与V3.0七层差异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168128" y="246888"/>
            <a:ext cx="144475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演进规划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30352" y="722376"/>
            <a:ext cx="11109960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29 / 32</a:t>
            </a:r>
            <a:endParaRPr lang="en-US" sz="9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051560"/>
          <a:ext cx="10881360" cy="5166360"/>
        </p:xfrm>
        <a:graphic>
          <a:graphicData uri="http://schemas.openxmlformats.org/drawingml/2006/table">
            <a:tbl>
              <a:tblPr/>
              <a:tblGrid>
                <a:gridCol w="3627120"/>
                <a:gridCol w="3627120"/>
                <a:gridCol w="36271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层级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74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V2.0产品基线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74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V3.0规划能力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74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L1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请求封装、输入预检、会话及版本绑定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接入对话、订阅、预警、报告和智能体任务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L2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要素提取、上下文、缺参歧义、权限合规初检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识别领域、能力、跨域需求和候选能力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L3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口径归一、意图路由和语义查询计划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综合问题拆解、任务依赖、分析路径和完整性要求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L4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匹配数据源、表、字段和指标映射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匹配授权指标、API、文档、知识和实时数据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L5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受控SQL模板及单/多SQL执行计划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生成SQL/API/计算/检索组成的版本化计划DAG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L6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SQL安全校验、数据范围注入和受控执行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串并行、限流、重试、取消、质量及部分成功判断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L7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基于L6事实生成摘要、表格、图表和归因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生成证据化结论、异常、预测、未核实项和建议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438912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30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24128" y="201168"/>
            <a:ext cx="891540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V3.0七层规划架构与说明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168128" y="246888"/>
            <a:ext cx="144475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演进规划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30352" y="722376"/>
            <a:ext cx="11109960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30 / 32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76072" y="987552"/>
            <a:ext cx="7872984" cy="5285232"/>
          </a:xfrm>
          <a:prstGeom prst="roundRect">
            <a:avLst>
              <a:gd name="adj" fmla="val 865"/>
            </a:avLst>
          </a:prstGeom>
          <a:solidFill>
            <a:srgbClr val="FFFFFF"/>
          </a:solidFill>
          <a:ln w="12700">
            <a:solidFill>
              <a:srgbClr val="D6E3D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3504" y="1014984"/>
            <a:ext cx="7818120" cy="523036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650224" y="1014984"/>
            <a:ext cx="2944368" cy="5230368"/>
          </a:xfrm>
          <a:prstGeom prst="roundRect">
            <a:avLst>
              <a:gd name="adj" fmla="val 2174"/>
            </a:avLst>
          </a:prstGeom>
          <a:solidFill>
            <a:srgbClr val="F2F8F6"/>
          </a:solidFill>
          <a:ln w="12700">
            <a:solidFill>
              <a:srgbClr val="D6E3D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887968" y="1280160"/>
            <a:ext cx="2450592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本页要点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887968" y="1783080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7C3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308592" y="1700784"/>
            <a:ext cx="19659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L1交互与任务接入 → L2领域理解 → L3语义规划 → L4可信资产匹配 → L5查询与任务编排 → L6执行与治理 → L7证据化分析与决策辅助。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8887968" y="2569464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91C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308592" y="2487168"/>
            <a:ext cx="19659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边界说明：模型可以识别领域、抽取参数、推荐任务和组织回答，但不能裁决权限、绕过安全、创造未发布的跨域调用关系或直接执行高风险业务写操作。L7只能使用成功执行事实；关键任务失败必须披露未核实项，不能回答“整体正常”。</a:t>
            </a:r>
            <a:endParaRPr lang="en-US" sz="13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438912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31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24128" y="201168"/>
            <a:ext cx="891540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V3.0愿景与能力地图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168128" y="246888"/>
            <a:ext cx="144475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演进规划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30352" y="722376"/>
            <a:ext cx="11109960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31 / 32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76072" y="987552"/>
            <a:ext cx="7872984" cy="5285232"/>
          </a:xfrm>
          <a:prstGeom prst="roundRect">
            <a:avLst>
              <a:gd name="adj" fmla="val 865"/>
            </a:avLst>
          </a:prstGeom>
          <a:solidFill>
            <a:srgbClr val="FFFFFF"/>
          </a:solidFill>
          <a:ln w="12700">
            <a:solidFill>
              <a:srgbClr val="D6E3D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3504" y="1014984"/>
            <a:ext cx="7818120" cy="523036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650224" y="1014984"/>
            <a:ext cx="2944368" cy="5230368"/>
          </a:xfrm>
          <a:prstGeom prst="roundRect">
            <a:avLst>
              <a:gd name="adj" fmla="val 2174"/>
            </a:avLst>
          </a:prstGeom>
          <a:solidFill>
            <a:srgbClr val="F2F8F6"/>
          </a:solidFill>
          <a:ln w="12700">
            <a:solidFill>
              <a:srgbClr val="D6E3D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887968" y="1280160"/>
            <a:ext cx="2450592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本页要点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887968" y="1783080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7C3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308592" y="1700784"/>
            <a:ext cx="19659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愿景：从“用户主动问数”升级为“系统理解经营目标、主动发现问题、辅助分析并推动业务闭环”。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8887968" y="2569464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91C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308592" y="2487168"/>
            <a:ext cx="19659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六条主线：智能分析深化、场景与智能体、数据能力扩展、用户体验升级、企业治理增强、生态开放。</a:t>
            </a:r>
            <a:endParaRPr lang="en-US" sz="13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438912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7C3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32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24128" y="201168"/>
            <a:ext cx="891540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V3.0场景、路线图与总结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168128" y="246888"/>
            <a:ext cx="144475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演进规划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30352" y="722376"/>
            <a:ext cx="11109960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32 / 32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76072" y="987552"/>
            <a:ext cx="7872984" cy="5285232"/>
          </a:xfrm>
          <a:prstGeom prst="roundRect">
            <a:avLst>
              <a:gd name="adj" fmla="val 865"/>
            </a:avLst>
          </a:prstGeom>
          <a:solidFill>
            <a:srgbClr val="FFFFFF"/>
          </a:solidFill>
          <a:ln w="12700">
            <a:solidFill>
              <a:srgbClr val="D6E3D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3504" y="1014984"/>
            <a:ext cx="7818120" cy="523036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650224" y="1014984"/>
            <a:ext cx="2944368" cy="5230368"/>
          </a:xfrm>
          <a:prstGeom prst="roundRect">
            <a:avLst>
              <a:gd name="adj" fmla="val 2174"/>
            </a:avLst>
          </a:prstGeom>
          <a:solidFill>
            <a:srgbClr val="F2F8F6"/>
          </a:solidFill>
          <a:ln w="12700">
            <a:solidFill>
              <a:srgbClr val="D6E3D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887968" y="1280160"/>
            <a:ext cx="2450592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本页要点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887968" y="1783080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7C3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308592" y="1700784"/>
            <a:ext cx="19659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首批候选：经营异常预警、指标波动归因、机构经营诊断、智能日报周报月报、驾驶舱解读、营销机会识别。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8887968" y="2569464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91C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308592" y="2487168"/>
            <a:ext cx="19659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路线：V2.0基线完成 → 客户适配验证 → V3.0需求与价值排序 → 高价值场景试点 → 智能体与生态平台化。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8887968" y="3355848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91C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9308592" y="3273552"/>
            <a:ext cx="19659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原则：事实与推断分离、业务动作保留人工确认、新能力不影响V2.0稳定交付。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erif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erif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AskData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企业级智能问数平台业务解决方案（标准完整版）</dc:title>
  <dc:subject>企业级智能问数平台业务解决方案（标准完整版）</dc:subject>
  <dc:creator>AskData</dc:creator>
  <cp:lastModifiedBy>AskData</cp:lastModifiedBy>
  <cp:revision>1</cp:revision>
  <dcterms:created xsi:type="dcterms:W3CDTF">2026-08-13T06:28:35Z</dcterms:created>
  <dcterms:modified xsi:type="dcterms:W3CDTF">2026-08-13T06:28:35Z</dcterms:modified>
</cp:coreProperties>
</file>