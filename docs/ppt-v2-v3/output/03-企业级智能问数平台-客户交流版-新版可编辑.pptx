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91456" cy="68580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100584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170432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1664208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828800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2322576"/>
            <a:ext cx="164592" cy="16459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5712" y="2487168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0616" y="2980944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3145536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30968" y="3639312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6416" y="3803904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1320" y="429768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85216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DATA / BUSINESS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1261872"/>
            <a:ext cx="62179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企业级智能问数平台业务解决方案｜产品V2.0能力与客户落地建议。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85800" y="2907792"/>
            <a:ext cx="5989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24页｜交流时长45—60分钟｜重点回答“适不适合客户、如何接入、是否安全、怎样验收、V2.0与V3.0边界”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5800" y="4800600"/>
            <a:ext cx="1005840" cy="0"/>
          </a:xfrm>
          <a:prstGeom prst="line">
            <a:avLst/>
          </a:prstGeom>
          <a:noFill/>
          <a:ln w="50800">
            <a:solidFill>
              <a:srgbClr val="F47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汇报单位｜汇报人｜2026年8月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73568" y="6080760"/>
            <a:ext cx="340156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V2.0 · V3.0 演进规划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交流目标与议程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197864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业务问题与目标、产品方案、用户和管理能力、安全与部署、实施验收、V3.0拓展、待确认事项。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客户常见业务挑战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F2F8F6"/>
          </a:solidFill>
          <a:ln w="1524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/ 基线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临时取数需求多、跨团队沟通周期长。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报表、驾驶舱和数据平台入口分散。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" y="353872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43814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问数过程难追溯，问题发生后定位困难。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1078992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EEF4FA"/>
          </a:solidFill>
          <a:ln w="15240">
            <a:solidFill>
              <a:srgbClr val="5C91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280160"/>
            <a:ext cx="473659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演进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1929384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1828800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指标口径、机构范围、时间单位容易产生歧义。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2734056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2633472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数据权限、敏感信息和SQL执行风险高。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47104" y="3538728"/>
            <a:ext cx="2011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3438144"/>
            <a:ext cx="4315968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大模型应用需要进入企业治理和审计框架。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2862072"/>
            <a:ext cx="530352" cy="658368"/>
          </a:xfrm>
          <a:prstGeom prst="chevron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解决方案定位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通过自然语言连接用户、业务指标和受控数据源，在确定性权限与SQL安全边界内完成查询，并输出可追溯的文本、表格和图表结果。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业务架构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业务架构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七层可信问数机制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L1请求接入、L2问题理解、L3意图参数、L4语义计划、L5资产映射、L6安全执行、L7事实回答。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端到端执行时序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端到端执行时序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用户端功能全景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5-user-home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2" name="Image 1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3849624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自然语言与快捷场景提问。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754112" y="4306824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18704" y="4480560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01584" y="4425696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多角色、按机构和数据范围问数。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754112" y="4882896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18704" y="505663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01584" y="5001768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七层轨迹和流式回答。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754112" y="5458968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918704" y="5632704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5577840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表格、图表、SQL记录与结果引用。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标准业务场景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基础指标、驾驶舱导航、同比环比、趋势分析、机构排名、多指标组合、明细下钻、缺参/权限/异常引导。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典型问数案例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78824" y="1280160"/>
            <a:ext cx="24871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7882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90304" y="1682496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示例：“查询2026年3月各分行零售贷款同比变化。”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7882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290304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识别时间、指标、机构和同比意图。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7882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90304" y="3255264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校验当前用户机构范围及指标权限。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7882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90304" y="4041648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映射已发布资产，生成并校验参数化SQL。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78824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90304" y="4828032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返回业务结论、结果表格、图表和追问建议。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管理端核心能力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2" name="Image 1" descr="/workspaces/askdatademo/docs/ppt-v2-v3/assets/07-admin-home-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3849624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组织权限、资产指标、场景模板、模型数据源、审批发布、运行监控与审计。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数据资产与指标配置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09-admin-metric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78824" y="1280160"/>
            <a:ext cx="24871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7882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90304" y="1682496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数据源、表、字段及敏感等级。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7882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290304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指标、维度、口径、同义词和血缘。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7882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90304" y="3255264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指标到表字段及SQL模板映射。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7882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90304" y="4041648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场景、参数、推荐问题和回答话术。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78824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90304" y="4828032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版本、审批、发布和新会话生效。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身份权限与安全治理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2" name="Image 1" descr="/workspaces/askdatademo/docs/ppt-v2-v3/assets/08-admin-users-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3849624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对接企业统一认证和组织属性。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754112" y="4306824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18704" y="4480560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01584" y="4425696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功能、指标、表、字段和机构范围授权。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754112" y="4882896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18704" y="505663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01584" y="5001768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权限快照、变更失效和拒绝优先。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754112" y="5458968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918704" y="5632704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5577840"/>
            <a:ext cx="3273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AST检查、只读白名单、行数/时间/扫描限制。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网络部署参考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数据源和查询执行留在银行内网；模型可采用内网私有化部署，也可通过DMZ模型安全出口调用银行批准的外部服务。外部模型不直连内部数据源，出网内容须经过最小化、脱敏、DLP、白名单和审计控制。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运维、可靠性与恢复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" y="987552"/>
            <a:ext cx="71871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/workspaces/askdatademo/docs/ppt-v2-v3/assets/12-admin-query-log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132320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78824" y="1280160"/>
            <a:ext cx="248716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本页要点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878824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90304" y="1682496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请求、层、SQL、Provider、结果及Trace关联。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78824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290304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队列、并发、超载快速拒绝与重试提示。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78824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90304" y="3255264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SSE断线续传、取消传播与最终态同步。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78824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90304" y="4041648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Prometheus指标、告警规则和安全通知适配。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78824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90304" y="4828032"/>
            <a:ext cx="21031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配置、数据库、程序和秘密恢复材料组成完整恢复包。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产品基线与客户验收边界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产品基线已有/进行中：功能、契约、跨服务E2E、安全测试、迁移恢复、短时容量及30分钟峰值；8小时长稳与发布审查按计划完成。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1956816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75688"/>
            <a:ext cx="48371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客户项目必须验证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2487168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真实认证、真实模型与数据库、网络与证书、指标SQL对账、客户容量SLA、安全扫描、灾备演练、业务签字。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客户实施与验收路径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调研与差距分析；2. 环境和适配设计；3. 数据资产/权限/场景配置；4. 联调和黄金问题对账；5. 试运行、容量安全灾备验证；6. 业务签字与上线回滚窗口。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V2.0系统架构与交付边界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2F8F6"/>
          </a:solidFill>
          <a:ln w="10160">
            <a:solidFill>
              <a:srgbClr val="177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产品基线说明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Java控制面负责企业入口、身份权限、配置审批、发布回滚、运行主记录和审计。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Python执行面负责固定七层问数链路；模型只参与L2理解和L7解读。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当前主要通过已发布指标与字段映射、受控SQL模板连接结构化数据源。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V2.0与V3.0定位变化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24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V2.0产品基线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V3.0规划能力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产品定位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安全可信自然语言问数平台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领域智能分析与决策协同平台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触发入口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用户主动提问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提问、订阅预警、智能报告和分析智能体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任务形态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一问一查或少量多SQL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一问多查、多步骤、多数据源计划DAG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业务组织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场景、指标和模板配置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领域能力包及可审批版本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数据范围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结构化数据库为主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数据库、业务API、文档、知识图谱和实时数据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结果输出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事实、表格、图表和追问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综合结论、异常归因、预测、证据和建议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治理重点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权限、SQL安全、事实一致性、审计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跨域授权、任务完整性、证据链和人工确认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七层逐层演进对比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24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V2.0产品基线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V3.0规划能力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请求封装、输入预检、会话和版本绑定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接入对话、订阅、预警、报告及智能体任务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要素提取、上下文、缺参歧义、权限合规初检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识别领域、能力、跨域需求及候选能力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口径归一、意图路由和语义查询计划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综合问题拆解、任务依赖、路径和完整性要求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数据源、表、字段和指标映射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授权API、文档、知识和实时数据资产匹配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SQL模板及单/多SQL计划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SQL/API/计算/检索组成的版本化计划DAG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SQL安全、数据范围注入和受控执行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串并行、限流、重试、取消、质量和部分成功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基于执行事实生成摘要、图表和归因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证据化结论、异常、预测、未核实项及建议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V3.0七层规划架构与边界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L1交互与任务接入、L2领域理解、L3语义规划、L4可信资产匹配、L5查询与任务编排、L6执行与治理、L7证据化分析与决策辅助。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治理边界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模型不能裁决权限、绕过安全或创建未发布的跨域调用关系。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L7只基于成功结果；权限不足、数据缺失和关键任务失败必须显著披露。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V3.0后续拓展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987552"/>
            <a:ext cx="8449056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1014984"/>
            <a:ext cx="8394192" cy="5230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62288" y="1014984"/>
            <a:ext cx="2432304" cy="5230368"/>
          </a:xfrm>
          <a:prstGeom prst="roundRect">
            <a:avLst>
              <a:gd name="adj" fmla="val 2632"/>
            </a:avLst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  <a:effectLst>
            <a:outerShdw sx="100000" sy="100000" kx="0" ky="0" algn="bl" rotWithShape="0" blurRad="19050" dist="50800" dir="2700000">
              <a:srgbClr val="A9B8C6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271016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规划说明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372600" y="1847088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784080" y="1700784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主动发现：异常监测、预警和订阅推送。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372600" y="2779776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0" y="2633472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深度分析：根因归因、对比诊断和预测趋势。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72600" y="3712464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3566160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内容生产：日报、周报、月报和会议材料。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37260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9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4080" y="4498848"/>
            <a:ext cx="1572768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智能体：专项分析Agent、多步骤任务和人工审批。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345168" y="5925312"/>
            <a:ext cx="199339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规划能力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78992" y="155448"/>
            <a:ext cx="8823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待确认事项与下一步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287000" y="237744"/>
            <a:ext cx="1335024" cy="292608"/>
          </a:xfrm>
          <a:prstGeom prst="roundRect">
            <a:avLst>
              <a:gd name="adj" fmla="val 37500"/>
            </a:avLst>
          </a:prstGeom>
          <a:solidFill>
            <a:srgbClr val="FFF4EC"/>
          </a:solidFill>
          <a:ln w="10160">
            <a:solidFill>
              <a:srgbClr val="F4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9296" y="265176"/>
            <a:ext cx="117043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786384"/>
            <a:ext cx="11055096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业务输入：目标用户、优先场景、指标口径、黄金问题、验收标准。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2459736"/>
            <a:ext cx="3529584" cy="2148840"/>
          </a:xfrm>
          <a:prstGeom prst="chevron">
            <a:avLst/>
          </a:prstGeom>
          <a:solidFill>
            <a:srgbClr val="F2F8F6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42616"/>
            <a:ext cx="3200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072384"/>
            <a:ext cx="3182112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技术输入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" y="3648456"/>
            <a:ext cx="31089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数据库、模型、认证、网络、KMS、部署、监控、容量、灾备。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34256" y="2459736"/>
            <a:ext cx="3529584" cy="2148840"/>
          </a:xfrm>
          <a:prstGeom prst="chevron">
            <a:avLst/>
          </a:prstGeom>
          <a:solidFill>
            <a:srgbClr val="EEF4FA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642616"/>
            <a:ext cx="3200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8848" y="3072384"/>
            <a:ext cx="3182112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治理输入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35424" y="3648456"/>
            <a:ext cx="31089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数据权限、敏感分级、审批组织、日志及结果保留期。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10144" y="2459736"/>
            <a:ext cx="3529584" cy="2148840"/>
          </a:xfrm>
          <a:prstGeom prst="chevron">
            <a:avLst/>
          </a:prstGeom>
          <a:solidFill>
            <a:srgbClr val="FFF4E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2642616"/>
            <a:ext cx="3200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74736" y="3072384"/>
            <a:ext cx="3182112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建议下一步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11312" y="3648456"/>
            <a:ext cx="31089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完成调研表 → 选择3—5个高价值场景 → 建立黄金问题与预期结果 → 输出差距分析和试点计划。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AskData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企业级智能问数平台业务解决方案（客户交流版）</dc:title>
  <dc:subject>企业级智能问数平台业务解决方案（客户交流版）</dc:subject>
  <dc:creator>AskData</dc:creator>
  <cp:lastModifiedBy>AskData</cp:lastModifiedBy>
  <cp:revision>1</cp:revision>
  <dcterms:created xsi:type="dcterms:W3CDTF">2026-08-13T09:06:30Z</dcterms:created>
  <dcterms:modified xsi:type="dcterms:W3CDTF">2026-08-13T09:06:30Z</dcterms:modified>
</cp:coreProperties>
</file>